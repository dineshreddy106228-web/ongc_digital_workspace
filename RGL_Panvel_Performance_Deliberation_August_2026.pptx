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4b6bd161394f54" /><Relationship Type="http://schemas.openxmlformats.org/officeDocument/2006/relationships/extended-properties" Target="/docProps/app.xml" Id="R161f0312d1c94424" /><Relationship Type="http://schemas.openxmlformats.org/officeDocument/2006/relationships/officeDocument" Target="/ppt/presentation.xml" Id="Rc2531c3dedac4e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a1120e8f9143b6"/>
  </p:sldMasterIdLst>
  <p:notesMasterIdLst>
    <p:notesMasterId xmlns:r="http://schemas.openxmlformats.org/officeDocument/2006/relationships" r:id="R6b6f978079324c40"/>
  </p:notesMasterIdLst>
  <p:sldIdLst>
    <p:sldId xmlns:r="http://schemas.openxmlformats.org/officeDocument/2006/relationships" id="256" r:id="R4cc52fcebae6490f"/>
    <p:sldId xmlns:r="http://schemas.openxmlformats.org/officeDocument/2006/relationships" id="257" r:id="R76eb4301adad4094"/>
    <p:sldId xmlns:r="http://schemas.openxmlformats.org/officeDocument/2006/relationships" id="258" r:id="R1e98fd0d436c4440"/>
    <p:sldId xmlns:r="http://schemas.openxmlformats.org/officeDocument/2006/relationships" id="259" r:id="R4959fde0ab5646f0"/>
    <p:sldId xmlns:r="http://schemas.openxmlformats.org/officeDocument/2006/relationships" id="260" r:id="Rdbe20b50beb14561"/>
    <p:sldId xmlns:r="http://schemas.openxmlformats.org/officeDocument/2006/relationships" id="261" r:id="R41d78b454654497d"/>
    <p:sldId xmlns:r="http://schemas.openxmlformats.org/officeDocument/2006/relationships" id="262" r:id="R6f41b362ce024f4f"/>
    <p:sldId xmlns:r="http://schemas.openxmlformats.org/officeDocument/2006/relationships" id="263" r:id="R113a00ae235548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c5e8cceaf247ad" /><Relationship Type="http://schemas.openxmlformats.org/officeDocument/2006/relationships/slideMaster" Target="/ppt/slideMasters/slideMaster1.xml" Id="R37a1120e8f9143b6" /><Relationship Type="http://schemas.openxmlformats.org/officeDocument/2006/relationships/notesMaster" Target="/ppt/notesMasters/notesMaster1.xml" Id="R6b6f978079324c40" /><Relationship Type="http://schemas.openxmlformats.org/officeDocument/2006/relationships/presProps" Target="/ppt/presProps.xml" Id="R68c77e760cff4794" /><Relationship Type="http://schemas.openxmlformats.org/officeDocument/2006/relationships/tableStyles" Target="/ppt/tableStyles.xml" Id="Rd0ee95ee6f8442c2" /><Relationship Type="http://schemas.openxmlformats.org/officeDocument/2006/relationships/slide" Target="/ppt/slides/slide1.xml" Id="R4cc52fcebae6490f" /><Relationship Type="http://schemas.openxmlformats.org/officeDocument/2006/relationships/slide" Target="/ppt/slides/slide2.xml" Id="R76eb4301adad4094" /><Relationship Type="http://schemas.openxmlformats.org/officeDocument/2006/relationships/slide" Target="/ppt/slides/slide3.xml" Id="R1e98fd0d436c4440" /><Relationship Type="http://schemas.openxmlformats.org/officeDocument/2006/relationships/slide" Target="/ppt/slides/slide4.xml" Id="R4959fde0ab5646f0" /><Relationship Type="http://schemas.openxmlformats.org/officeDocument/2006/relationships/slide" Target="/ppt/slides/slide5.xml" Id="Rdbe20b50beb14561" /><Relationship Type="http://schemas.openxmlformats.org/officeDocument/2006/relationships/slide" Target="/ppt/slides/slide6.xml" Id="R41d78b454654497d" /><Relationship Type="http://schemas.openxmlformats.org/officeDocument/2006/relationships/slide" Target="/ppt/slides/slide7.xml" Id="R6f41b362ce024f4f" /><Relationship Type="http://schemas.openxmlformats.org/officeDocument/2006/relationships/slide" Target="/ppt/slides/slide8.xml" Id="R113a00ae235548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22bc8b8ef540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a9bfb342404adf" /><Relationship Type="http://schemas.openxmlformats.org/officeDocument/2006/relationships/notesMaster" Target="/ppt/notesMasters/notesMaster1.xml" Id="R152fef05946e4a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89a19829f646bb" /><Relationship Type="http://schemas.openxmlformats.org/officeDocument/2006/relationships/notesMaster" Target="/ppt/notesMasters/notesMaster1.xml" Id="Ra1092df8ac1643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63865d08204db7" /><Relationship Type="http://schemas.openxmlformats.org/officeDocument/2006/relationships/notesMaster" Target="/ppt/notesMasters/notesMaster1.xml" Id="Rdb9859b9dfb64b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ab486df83c4d14" /><Relationship Type="http://schemas.openxmlformats.org/officeDocument/2006/relationships/notesMaster" Target="/ppt/notesMasters/notesMaster1.xml" Id="R39300237035245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ce53d6c3d34b95" /><Relationship Type="http://schemas.openxmlformats.org/officeDocument/2006/relationships/notesMaster" Target="/ppt/notesMasters/notesMaster1.xml" Id="R36cd27eecd1748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8e5311d94c489b" /><Relationship Type="http://schemas.openxmlformats.org/officeDocument/2006/relationships/notesMaster" Target="/ppt/notesMasters/notesMaster1.xml" Id="R761a2d785c8d47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cf96d5ce7f48d6" /><Relationship Type="http://schemas.openxmlformats.org/officeDocument/2006/relationships/notesMaster" Target="/ppt/notesMasters/notesMaster1.xml" Id="Rb9b11a8381b04a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affdafe1364af0" /><Relationship Type="http://schemas.openxmlformats.org/officeDocument/2006/relationships/notesMaster" Target="/ppt/notesMasters/notesMaster1.xml" Id="R3fec191504af43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17afae7bd740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e7cfac3d424be8" /><Relationship Type="http://schemas.openxmlformats.org/officeDocument/2006/relationships/slideLayout" Target="/ppt/slideLayouts/slideLayout1.xml" Id="R38e37922667444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e37922667444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c4bd5517f444eb" /><Relationship Type="http://schemas.openxmlformats.org/officeDocument/2006/relationships/image" Target="/ppt/media/image.png" Id="R4895393442f14844" /><Relationship Type="http://schemas.openxmlformats.org/officeDocument/2006/relationships/notesSlide" Target="/ppt/notesSlides/notesSlide1.xml" Id="Recb49a8b86a341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bce2e0a52406f" /><Relationship Type="http://schemas.openxmlformats.org/officeDocument/2006/relationships/image" Target="/ppt/media/image2.png" Id="R2c25dbcefb6b48d0" /><Relationship Type="http://schemas.openxmlformats.org/officeDocument/2006/relationships/notesSlide" Target="/ppt/notesSlides/notesSlide2.xml" Id="Rae790c5fb84545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3978dde8b4076" /><Relationship Type="http://schemas.openxmlformats.org/officeDocument/2006/relationships/image" Target="/ppt/media/image3.png" Id="R73b4ad5ffb0041e3" /><Relationship Type="http://schemas.openxmlformats.org/officeDocument/2006/relationships/notesSlide" Target="/ppt/notesSlides/notesSlide3.xml" Id="R35dbd7edd9dd47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e731eb0ce49d7" /><Relationship Type="http://schemas.openxmlformats.org/officeDocument/2006/relationships/image" Target="/ppt/media/image4.png" Id="Rb0a85d998e82461c" /><Relationship Type="http://schemas.openxmlformats.org/officeDocument/2006/relationships/notesSlide" Target="/ppt/notesSlides/notesSlide4.xml" Id="R4e24e14afd9d42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912ff08ae4000" /><Relationship Type="http://schemas.openxmlformats.org/officeDocument/2006/relationships/image" Target="/ppt/media/image5.png" Id="R97de89896b914f89" /><Relationship Type="http://schemas.openxmlformats.org/officeDocument/2006/relationships/notesSlide" Target="/ppt/notesSlides/notesSlide5.xml" Id="Re2c78f92fe2944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fb317f6aa4f4c" /><Relationship Type="http://schemas.openxmlformats.org/officeDocument/2006/relationships/image" Target="/ppt/media/image6.png" Id="Rb4a453703f434199" /><Relationship Type="http://schemas.openxmlformats.org/officeDocument/2006/relationships/notesSlide" Target="/ppt/notesSlides/notesSlide6.xml" Id="R3e28761ca6614c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d5a6c0a04348c8" /><Relationship Type="http://schemas.openxmlformats.org/officeDocument/2006/relationships/image" Target="/ppt/media/image7.png" Id="R5b29843ba6234339" /><Relationship Type="http://schemas.openxmlformats.org/officeDocument/2006/relationships/notesSlide" Target="/ppt/notesSlides/notesSlide7.xml" Id="R6be1f89f1f6548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41048f964f4fa8" /><Relationship Type="http://schemas.openxmlformats.org/officeDocument/2006/relationships/image" Target="/ppt/media/image8.png" Id="Rff5985838dac4644" /><Relationship Type="http://schemas.openxmlformats.org/officeDocument/2006/relationships/notesSlide" Target="/ppt/notesSlides/notesSlide8.xml" Id="R8a6c8bd0e7a54d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7655E4-C945-464F-86D4-7982B3F8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23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06E7DD-3A35-4A87-B429-92A06E5F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976D2"/>
                </a:solidFill>
                <a:latin typeface="Helvetica Neue"/>
                <a:ea typeface="Helvetica Neue"/>
                <a:cs typeface="Helvetica Neue"/>
              </a:rPr>
              <a:t>RGL PANVEL · AUGUST 2026 PERFORMANCE METRICS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95393442f14844"/>
          <a:stretch xmlns:a="http://schemas.openxmlformats.org/drawingml/2006/main"/>
        </p:blipFill>
        <p:spPr>
          <a:xfrm xmlns:a="http://schemas.openxmlformats.org/drawingml/2006/main">
            <a:off x="11001375" y="22860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738E4F-6A32-443C-84DA-C402AC88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5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1E9F3-96E5-4B6E-9D7A-65D7AD2D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rPr>
              <a:t>Source: RGL Panvel QC Laboratory Monitoring data · August 2026 · Status as at 20 Aug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C03673-5BEB-4494-863C-DF4F3054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313411-91A5-4316-984A-2DD9C268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Current-month performance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78D029-74BF-490F-9576-0B9A7C46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57375"/>
            <a:ext cx="25717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711957-EB03-412D-B0E1-DCCF753E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2152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39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043FCC-F056-4E07-9287-184CCA94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2152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Monthly intake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C8E2F3-FA3A-4958-AF34-E6478CBD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rPr>
              <a:t>samples received in August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4582E0-714E-4C84-A1FE-61D5B090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857375"/>
            <a:ext cx="25717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A9C3AD-7315-4554-8934-B1D02D22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24075"/>
            <a:ext cx="2152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431F87-A076-4F5A-B949-389F9ACD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71775"/>
            <a:ext cx="2152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Closed reports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A1D6A4-45A7-45DA-BF7C-02CCE8E5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4325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rPr>
              <a:t>reports issued in August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06778B-C274-44E7-A9E5-B725F8D5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857375"/>
            <a:ext cx="25717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1D4360-3A82-4BDF-A0CB-5627E605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24075"/>
            <a:ext cx="2152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79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794E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EA256A-5256-484F-B199-4709A3AC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71775"/>
            <a:ext cx="2152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Within applicable SLA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5EFC3B-9797-478E-A4EB-0AC65805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4325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rPr>
              <a:t>14 of 29 assessed closures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E00A22-1C1C-47FE-841A-8AB497A7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57375"/>
            <a:ext cx="25717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EC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C1A502-4BF9-4220-BD4F-536D1299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24075"/>
            <a:ext cx="2152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53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C53B3B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848C50-B12F-47E4-A3A7-B8FD47B6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71775"/>
            <a:ext cx="2152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Late closures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3391E5-FC28-4D51-8A64-3B812187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4325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rPr>
              <a:t>15 of 29 assessed closures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D758CB-0838-4E95-9B70-7021D697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76675"/>
            <a:ext cx="33718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058CB1-8759-4F40-8E72-000A9268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2952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9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976D2"/>
                </a:solidFill>
                <a:latin typeface="Helvetica Neue"/>
                <a:ea typeface="Helvetica Neue"/>
                <a:cs typeface="Helvetica Neue"/>
              </a:rPr>
              <a:t>48.3%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9134CC-1B3E-4A1B-B911-2EB27242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Within applicable SLA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4B823A-3B55-4DF6-BB21-5F63220E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rPr>
              <a:t>14 / 29 closed reports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196473-B215-4A2E-807D-D123319A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76675"/>
            <a:ext cx="33718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39B6DE-6C11-4531-9D20-97370A4D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143375"/>
            <a:ext cx="2952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7.4 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86EC57-85F1-4A7D-87DE-237C839B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791075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Average turnaround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3D9992-EDC0-4E2C-9B37-B1DA6079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1625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rPr>
              <a:t>across all 29 closed reports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EF722F-AB22-4199-9952-0E084A9B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76675"/>
            <a:ext cx="37147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132F13-53A2-473C-89D6-25EB2ACB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43375"/>
            <a:ext cx="3295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14 + 15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C0C691-3665-4F6C-8EC1-9B19F655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91075"/>
            <a:ext cx="3295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SLA assessment basis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EE995C-35B1-4405-A19E-0D07B94A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62550"/>
            <a:ext cx="3295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rPr>
              <a:t>material SLA + 9-day review fallback</a:t>
            </a:r>
          </a:p>
        </p:txBody>
      </p:sp>
    </p:spTree>
    <p:extLst>
      <p:ext uri="{BB962C8B-B14F-4D97-AF65-F5344CB8AC3E}">
        <p14:creationId xmlns:p14="http://schemas.microsoft.com/office/powerpoint/2010/main" val="17276513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3E2AD8-DC50-445D-9D1A-36463C09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23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1DEA3E-A6D5-4AC4-AA9C-84FE1C83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976D2"/>
                </a:solidFill>
                <a:latin typeface="Helvetica Neue"/>
                <a:ea typeface="Helvetica Neue"/>
                <a:cs typeface="Helvetica Neue"/>
              </a:rPr>
              <a:t>RGL PANVEL · CURRENT WEEK 13–19 AUGUST 2026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25dbcefb6b48d0"/>
          <a:stretch xmlns:a="http://schemas.openxmlformats.org/drawingml/2006/main"/>
        </p:blipFill>
        <p:spPr>
          <a:xfrm xmlns:a="http://schemas.openxmlformats.org/drawingml/2006/main">
            <a:off x="11001375" y="22860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2E8F7-B5AE-4C34-A99F-E823BAF2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5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42D47C-ADE5-4F55-A6EE-B49FE32F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rPr>
              <a:t>Source: RGL Panvel QC Laboratory Monitoring data · August 2026 · Status as at 20 Aug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1734B-C78B-418B-9A8A-320004D4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6B8805-ED0C-4C6B-82AC-B7276EDA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Weekly workload and closure analytics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44976C-26E6-4026-AF64-4E0DB3CE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57375"/>
            <a:ext cx="19526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5EC616-366D-43E5-BFA0-3D56CB9E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15335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37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0A1EE0-1CD1-46F0-8528-64D38FC1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15335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Samples in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5940EF-D212-44CC-991C-A04B9D44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533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rPr>
              <a:t>latest workbook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9B233C-5FB5-44FD-8E16-01E38B3A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857375"/>
            <a:ext cx="19526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65806C-B28E-4D92-8342-AC4F0BEB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124075"/>
            <a:ext cx="15335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079B8F-577F-457B-A381-C424EC7B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771775"/>
            <a:ext cx="15335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Closed reports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2ACB5B-5F5A-4A3C-9BC8-08F63EBE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143250"/>
            <a:ext cx="1533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rPr>
              <a:t>reports issued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0B582F-67FC-429A-8F38-2C18C4B4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57375"/>
            <a:ext cx="19526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D95E07-99E8-4214-97BD-A67CCD1E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24075"/>
            <a:ext cx="15335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38CA4E-EF9B-49E0-839F-F747C468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71775"/>
            <a:ext cx="15335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Open workload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FA7D0A-1AF6-4A50-9B44-55CFD766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43250"/>
            <a:ext cx="1533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rPr>
              <a:t>under testing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28977B-CE1C-4284-BD58-46276DEC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857375"/>
            <a:ext cx="19526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EC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DFBE8E-33DB-4507-87B7-F382E867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124075"/>
            <a:ext cx="15335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53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C53B3B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DC6D90-9A0E-41D4-8B2B-DD5353B4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771775"/>
            <a:ext cx="15335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Aged open sample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1B8788-ABD5-4169-A708-2FC6B50C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143250"/>
            <a:ext cx="1533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rPr>
              <a:t>beyond 9 days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524D58-A9C1-4473-B7F9-875AADEA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57375"/>
            <a:ext cx="24193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DF874C-7008-42F9-BB4C-5EF1EFBC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24075"/>
            <a:ext cx="200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9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976D2"/>
                </a:solidFill>
                <a:latin typeface="Helvetica Neue"/>
                <a:ea typeface="Helvetica Neue"/>
                <a:cs typeface="Helvetica Neue"/>
              </a:rPr>
              <a:t>52.6%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D642A1-FB17-47F9-931F-33A9EEC3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71775"/>
            <a:ext cx="2000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Weekly SLA achieved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3302E9-65AC-4BE5-8A3E-AE9390F7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432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rPr>
              <a:t>10 / 19 closed reports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61905A-C565-4BA9-9C1D-1C6A3385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476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Current-week SLA exception register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1362E3-DD6F-4F40-AD48-7E6FAB2E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C53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C53B3B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901C45-AD4B-4FA9-AA3A-BA49A0F0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19625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closures later than the applicable SLA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A47920-4AE8-47B5-95C2-219F6C07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523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976D2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C5CD44-354F-461F-A32C-4C06E7B8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67325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rPr>
              <a:t>used the 9-day review fallback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B9631A-DFBE-40BB-AFB9-7DF2A146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523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976D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71CFB4-7F5A-4389-8A72-ADD93077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48325"/>
            <a:ext cx="3095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rPr>
              <a:t>used a material-specific standard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0E6563-9843-4B3D-8FF7-F8660943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38600"/>
            <a:ext cx="54673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2BF9B1-A953-4104-9F61-D67A99EA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57675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Weekly sample mix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58C16E-41AE-4ABC-B633-6613ABB2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1487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976D2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DDB45E-690F-4B97-88B7-CB830CCC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33925"/>
            <a:ext cx="3286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Superior Grade Sodium Chloride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6192C9-65C5-423C-87CA-9228A887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9587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976D2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903381-A841-4532-83FC-585CF5EC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14925"/>
            <a:ext cx="3286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MDEA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2ADC176-ADED-4616-9593-9219C0C3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7687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976D2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320BB8-1A16-450D-8A52-FC6DFF20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495925"/>
            <a:ext cx="3286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all other materials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5DFE5B9-E0CE-4B69-9AE3-F3D0CB4A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0275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rPr>
              <a:t>Product outcome mix: 17 pass / 2 fail — shown for quality context only, not laboratory performance.</a:t>
            </a:r>
          </a:p>
        </p:txBody>
      </p:sp>
    </p:spTree>
    <p:extLst>
      <p:ext uri="{BB962C8B-B14F-4D97-AF65-F5344CB8AC3E}">
        <p14:creationId xmlns:p14="http://schemas.microsoft.com/office/powerpoint/2010/main" val="20872564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8A872B-01C4-4AC4-A659-A79AD1E8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23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6D270C-4DE3-4861-A086-983C0CC9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976D2"/>
                </a:solidFill>
                <a:latin typeface="Helvetica Neue"/>
                <a:ea typeface="Helvetica Neue"/>
                <a:cs typeface="Helvetica Neue"/>
              </a:rPr>
              <a:t>RGL PANVEL · AUGUST 2026 CLOSE-OUT ANALYTICS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b4ad5ffb0041e3"/>
          <a:stretch xmlns:a="http://schemas.openxmlformats.org/drawingml/2006/main"/>
        </p:blipFill>
        <p:spPr>
          <a:xfrm xmlns:a="http://schemas.openxmlformats.org/drawingml/2006/main">
            <a:off x="11001375" y="22860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9072ED-54F8-4FB6-A104-47EA731F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5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1E755-5169-4FE2-BFA0-B74ABA3E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rPr>
              <a:t>Source: RGL Panvel QC Laboratory Monitoring data · August 2026 · Status as at 20 Aug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BB5CB3-725B-4484-A3EE-8641F872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365EE-C220-448F-AD4E-7A0F0986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Late closures slightly exceed within-SLA closures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98BEBA-5D1E-46C9-BD33-44248F7F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rPr>
              <a:t>29 closed reports assessed against the applicable SLA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24CB29-5D8F-4FC9-ABC4-9A8578A2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133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486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79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8794E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3D76F6-FBB5-4261-9BA9-15F43B0C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4322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Within SLA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45846C-9AA1-428A-B422-D08D7B3C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28875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B8E1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B1C26F-A4CD-4EA0-BDD7-4A2B5B29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28875"/>
            <a:ext cx="1390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94E"/>
          </a:solidFill>
          <a:ln xmlns:a="http://schemas.openxmlformats.org/drawingml/2006/main" w="9525">
            <a:solidFill>
              <a:srgbClr val="18794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1BC166-448E-4FBB-BB60-43524F7F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43300"/>
            <a:ext cx="133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486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C53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C53B3B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33A91F-F761-4A11-9C90-73CD2D27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0527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Late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5FE14C-0ACD-4376-9AEA-551A476E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90925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EC"/>
          </a:solidFill>
          <a:ln xmlns:a="http://schemas.openxmlformats.org/drawingml/2006/main" w="9525">
            <a:solidFill>
              <a:srgbClr val="F2CA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B10B77-ED36-494C-8D3A-A5F21FAF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90925"/>
            <a:ext cx="1485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3B3B"/>
          </a:solidFill>
          <a:ln xmlns:a="http://schemas.openxmlformats.org/drawingml/2006/main" w="9525">
            <a:solidFill>
              <a:srgbClr val="C53B3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54D717-B99B-4807-90B7-CE558154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00600"/>
            <a:ext cx="5505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B22F1A-2915-43E8-B439-E95877CE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0150"/>
            <a:ext cx="2190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SLA coverage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74C08D-439A-48D8-ADE8-CA78EF84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53050"/>
            <a:ext cx="476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21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rPr>
              <a:t>14 material-specific standards · 15 closures assessed on the 9-day fallback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F45967-135C-42D0-B185-1D434221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00250"/>
            <a:ext cx="48958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B16BCA-81FB-48CA-8007-2DDE5B07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574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656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Delay reason distribution · 15 late closures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EFDD01-3E90-47EF-901B-18A93AD3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33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976D2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F0005F-2F0E-44DD-906D-F31CCDF2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800350"/>
            <a:ext cx="3714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Results awaited from outside lab / agency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63C7E8-029E-499E-B271-F5B2A8C1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09925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5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6DCA07-98A4-45A1-A554-707AA896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19475"/>
            <a:ext cx="33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53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53B3B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5C8DA6-5804-4FAA-A60E-E82FE868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438525"/>
            <a:ext cx="3714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No delay reason recorded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BC07A2-852B-4B92-AF66-E098AA31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481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5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BDEF9E-C191-4DF4-B733-56CC2767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57650"/>
            <a:ext cx="33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976D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B38962-E8F6-4342-BA6E-071782DA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076700"/>
            <a:ext cx="3714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Awaiting chemicals from asset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1ACBED-2A37-4DB9-AA74-64B07D4B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86275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5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1604E2-8C2F-45E6-8DDE-EED8541F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95825"/>
            <a:ext cx="33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976D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C9FF09-219E-4DC6-B684-E8BCA7E4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714875"/>
            <a:ext cx="3714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Other external / inter-laboratory dependencies</a:t>
            </a:r>
          </a:p>
        </p:txBody>
      </p:sp>
    </p:spTree>
    <p:extLst>
      <p:ext uri="{BB962C8B-B14F-4D97-AF65-F5344CB8AC3E}">
        <p14:creationId xmlns:p14="http://schemas.microsoft.com/office/powerpoint/2010/main" val="18645578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124ACA-0CEB-4A16-A4D9-98576D84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23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6EC087-A262-4996-A779-F4724130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976D2"/>
                </a:solidFill>
                <a:latin typeface="Helvetica Neue"/>
                <a:ea typeface="Helvetica Neue"/>
                <a:cs typeface="Helvetica Neue"/>
              </a:rPr>
              <a:t>RGL PANVEL · REVIEW FOCUS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a85d998e82461c"/>
          <a:stretch xmlns:a="http://schemas.openxmlformats.org/drawingml/2006/main"/>
        </p:blipFill>
        <p:spPr>
          <a:xfrm xmlns:a="http://schemas.openxmlformats.org/drawingml/2006/main">
            <a:off x="11001375" y="22860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01635-9614-428E-9B83-16672278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5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9271D0-9C4C-4D01-A673-E50F288B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rPr>
              <a:t>Source: RGL Panvel QC Laboratory Monitoring data · August 2026 · Status as at 20 Aug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5BEB5-753D-4FD4-97DB-2811C0C5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E84610-989B-4B76-B17C-4AC8282A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Exception concentration and questions for deliberation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D8E4D-E9C4-4A77-91FD-50D28DB2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14525"/>
            <a:ext cx="5219700" cy="391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257685-6928-4A50-BF57-110EAE25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4286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106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Materials with multiple August late closures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C992D2-CEBF-4A2D-8E06-DDD2FA15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53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53B3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AF533F-0FE6-4C05-8617-CF8DD113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003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Soda Ash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1E0670-49E5-4E55-8921-8AF8260E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9925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5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404538-0834-4D17-872D-D54F451A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976D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DD5A2E-97EA-4F30-8FDF-C60B711F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290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Tetrakis Phosphonium sulphate (THPS)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D7962F-CE64-4740-AC63-596E1270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5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5FE785-8F02-4D08-9047-0C3CEB5B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976D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0C07BA-6CB2-4F9B-A31B-98FAAB5F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Polyelectrolyte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B95129-4C4B-4897-A430-ECF437E3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67225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5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C30BAA-4216-41E1-B065-21F2F4B6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976D2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5BA6F2-61DB-4735-A256-F826ABDF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863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Other materials with one late closure each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3C9664-9EE9-4D8A-8430-ACD912B5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53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53B3B"/>
                </a:solidFill>
                <a:latin typeface="Helvetica Neue"/>
                <a:ea typeface="Helvetica Neue"/>
                <a:cs typeface="Helvetica Neue"/>
              </a:rPr>
              <a:t>Open watch item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C58D61-EE2C-4F71-A28F-1F5BA5C9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62600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Keroclay — 13 days open; reason entered as “Others”.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745623-150A-4656-AE71-653645B0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14525"/>
            <a:ext cx="5200650" cy="391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BE1F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2057F2-967D-42D5-BD4A-B1060F2D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90750"/>
            <a:ext cx="4000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Questions for the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1902E8-40E7-4EED-801B-B64FB662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62250"/>
            <a:ext cx="23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976D2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75463D-A535-48A9-B31A-67909741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62250"/>
            <a:ext cx="4114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Which outside-lab samples need an agreed result date and escalation point?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11EE57-8927-40E8-A54B-C608AE5B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EF"/>
          </a:solidFill>
          <a:ln xmlns:a="http://schemas.openxmlformats.org/drawingml/2006/main" w="9525">
            <a:solidFill>
              <a:srgbClr val="BFD8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33EACE-6461-4C5F-8A78-66820EF8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29000"/>
            <a:ext cx="23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976D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41E4D8-CADF-4F4F-AC70-8CE09883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29000"/>
            <a:ext cx="4114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Why were five late closures issued without a recorded delay reason?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F980DA-FBD2-4D64-8BB8-3DA0BC40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43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EF"/>
          </a:solidFill>
          <a:ln xmlns:a="http://schemas.openxmlformats.org/drawingml/2006/main" w="9525">
            <a:solidFill>
              <a:srgbClr val="BFD8E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3B633A-21EB-48A5-9056-9CD6AF06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95750"/>
            <a:ext cx="23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976D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A1E7B8-8A37-4C78-AFD4-EB8604F9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95750"/>
            <a:ext cx="4114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Which asset-side dependencies should be pre-planned before sampling?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5CB6DA-EBAE-4F94-9F14-309D11B0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1010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EF"/>
          </a:solidFill>
          <a:ln xmlns:a="http://schemas.openxmlformats.org/drawingml/2006/main" w="9525">
            <a:solidFill>
              <a:srgbClr val="BFD8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E3E3ED-2E0C-47A3-A0CE-23F335AF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62500"/>
            <a:ext cx="23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976D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2A3246-8DF6-492B-81E4-F30EE08C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62500"/>
            <a:ext cx="4114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What owner and closure date will be recorded for each open or late exception?</a:t>
            </a:r>
          </a:p>
        </p:txBody>
      </p:sp>
    </p:spTree>
    <p:extLst>
      <p:ext uri="{BB962C8B-B14F-4D97-AF65-F5344CB8AC3E}">
        <p14:creationId xmlns:p14="http://schemas.microsoft.com/office/powerpoint/2010/main" val="3664716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C7A0F3-50C9-4692-80A9-802A6278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23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7FA8C4-3584-46D5-B49B-44D710B6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976D2"/>
                </a:solidFill>
                <a:latin typeface="Helvetica Neue"/>
                <a:ea typeface="Helvetica Neue"/>
                <a:cs typeface="Helvetica Neue"/>
              </a:rPr>
              <a:t>RGL PANVEL · CURRENT OPEN SLA EXCEPTIONS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de89896b914f89"/>
          <a:stretch xmlns:a="http://schemas.openxmlformats.org/drawingml/2006/main"/>
        </p:blipFill>
        <p:spPr>
          <a:xfrm xmlns:a="http://schemas.openxmlformats.org/drawingml/2006/main">
            <a:off x="11001375" y="22860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91323-3EBF-4CCA-B0E8-7B63F71F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5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1EA876-8F64-40B3-A2BE-BD1749B3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rPr>
              <a:t>Source: RGL Panvel QC Laboratory Monitoring data · August 2026 · Status as at 20 Aug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B0A960-E7FD-4EDD-BD14-56B1226F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E5274F-4614-4E5C-BDBA-1879CE56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Current samples above the 9-day review threshold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134C9A-C378-4E65-9993-652145C8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rPr>
              <a:t>Latest workbook: 13–19 August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EEDE89-5180-4874-B59D-13D35A8F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24765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EC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CE5E46-48D7-4BB4-998F-D6067D57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057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53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C53B3B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A5CC83-733E-4E83-9533-DE300F79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2057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Open SLA exception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99938E-8477-45F1-B331-FD10FE39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753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rPr>
              <a:t>18 samples currently under testing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8802DD-EC51-4457-A89A-2A1C7EE9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14550"/>
            <a:ext cx="81534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745024-DB05-4534-99C1-2C94DC6E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193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Keroclay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CFC965-26E5-49C7-8424-D38EC86F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051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rPr>
              <a:t>Notification: 4075027233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FFB0A6-6401-4A78-A669-A9967B8A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051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rPr>
              <a:t>Received: 07 Aug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605945-D08A-421A-A11B-C19D8F3F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9051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53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53B3B"/>
                </a:solidFill>
                <a:latin typeface="Helvetica Neue"/>
                <a:ea typeface="Helvetica Neue"/>
                <a:cs typeface="Helvetica Neue"/>
              </a:rPr>
              <a:t>Age: 13 days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0D4E98-5C7F-44AA-9EE3-13D3A3C8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337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Reason recorded: Others (Specify in Remarks)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57485D-D220-4546-A843-0981A53B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338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rPr>
              <a:t>Open samples are assessed against the 9-day management-review threshold until the report is issued.</a:t>
            </a:r>
          </a:p>
        </p:txBody>
      </p:sp>
    </p:spTree>
    <p:extLst>
      <p:ext uri="{BB962C8B-B14F-4D97-AF65-F5344CB8AC3E}">
        <p14:creationId xmlns:p14="http://schemas.microsoft.com/office/powerpoint/2010/main" val="8008160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ADBE1655-2ABC-46BC-AFE8-E0B530D2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23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FEA3F9-E673-46EC-878E-3CE9972F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976D2"/>
                </a:solidFill>
                <a:latin typeface="Helvetica Neue"/>
                <a:ea typeface="Helvetica Neue"/>
                <a:cs typeface="Helvetica Neue"/>
              </a:rPr>
              <a:t>RGL PANVEL · AUGUST COMPLETED SAMPLES ABOVE SLA</a:t>
            </a:r>
          </a:p>
        </p:txBody>
      </p:sp>
      <p:pic>
        <p:nvPicPr>
          <p:cNvPr id="2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a453703f434199"/>
          <a:stretch xmlns:a="http://schemas.openxmlformats.org/drawingml/2006/main"/>
        </p:blipFill>
        <p:spPr>
          <a:xfrm xmlns:a="http://schemas.openxmlformats.org/drawingml/2006/main">
            <a:off x="11001375" y="22860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A9EC2D-10C5-41EC-AF5F-CC4C2F49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5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19FBF5-EB35-411E-BDF8-E66F60A9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rPr>
              <a:t>Source: RGL Panvel QC Laboratory Monitoring data · August 2026 · Status as at 20 Aug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DF1F77-2EF9-4965-8D94-DE3BAAE3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22B87D-F569-44CF-BA5C-75E5F9A7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15 completed samples later than the applicable SLA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36E948-CF48-4F69-8D8C-A6A6144D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rPr>
              <a:t>Material standard used where defined; otherwise the 9-day review SLA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34630-D157-4A62-A3F6-957F5445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25717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42"/>
          </a:solidFill>
          <a:ln xmlns:a="http://schemas.openxmlformats.org/drawingml/2006/main" w="9525">
            <a:solidFill>
              <a:srgbClr val="071D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DCCDD5-DC59-4451-A62D-661DA068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00977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Chemical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56384F-B052-4142-9AF0-B27A3E0F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52625"/>
            <a:ext cx="11430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42"/>
          </a:solidFill>
          <a:ln xmlns:a="http://schemas.openxmlformats.org/drawingml/2006/main" w="9525">
            <a:solidFill>
              <a:srgbClr val="071D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DB1555-571C-4BDC-9C23-BE23B404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0097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Notification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C0CFFF-F5E9-4E7E-8D49-CF54B4DC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52625"/>
            <a:ext cx="838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42"/>
          </a:solidFill>
          <a:ln xmlns:a="http://schemas.openxmlformats.org/drawingml/2006/main" w="9525">
            <a:solidFill>
              <a:srgbClr val="071D4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21C54C-CAEF-4647-BD54-724F157E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009775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Received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5AEFF2-DA2A-48D8-86D1-7A9F5502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52625"/>
            <a:ext cx="838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42"/>
          </a:solidFill>
          <a:ln xmlns:a="http://schemas.openxmlformats.org/drawingml/2006/main" w="9525">
            <a:solidFill>
              <a:srgbClr val="071D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6C5480-4B2A-432C-AEFE-ECC80AE3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009775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Reported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4B9ACD-87F1-4106-B31B-7346500B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952625"/>
            <a:ext cx="476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42"/>
          </a:solidFill>
          <a:ln xmlns:a="http://schemas.openxmlformats.org/drawingml/2006/main" w="9525">
            <a:solidFill>
              <a:srgbClr val="071D4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468EB5-0341-4DEC-A4A1-7BA569E7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009775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3B4297-B928-4AE7-BABF-E39935F7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52625"/>
            <a:ext cx="476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42"/>
          </a:solidFill>
          <a:ln xmlns:a="http://schemas.openxmlformats.org/drawingml/2006/main" w="9525">
            <a:solidFill>
              <a:srgbClr val="071D4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209347-184F-4FC1-BD0A-ADA73A99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09775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SLA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E11C9C-58F3-4FD3-847E-1787261C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52625"/>
            <a:ext cx="6191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42"/>
          </a:solidFill>
          <a:ln xmlns:a="http://schemas.openxmlformats.org/drawingml/2006/main" w="9525">
            <a:solidFill>
              <a:srgbClr val="071D4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6EA77B-1CAC-4D3A-87AB-073E3DE5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009775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Variance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12C5FE-0BDA-4396-992F-9F66F107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952625"/>
            <a:ext cx="42576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42"/>
          </a:solidFill>
          <a:ln xmlns:a="http://schemas.openxmlformats.org/drawingml/2006/main" w="9525">
            <a:solidFill>
              <a:srgbClr val="071D4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52298C-2C7F-4B56-AB6C-78492EA8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09775"/>
            <a:ext cx="4162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Delay reason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4EBA0F-3B6D-41A5-BC67-BC7187BC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F539D9-0BA3-4A2B-864A-53E70015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266950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Polylactic Acid Granules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2B01E4-3E65-4986-9794-FE42CBC4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098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0EF107-F8A6-4ED2-93A0-AEB68DCD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2669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4075029064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646EBE-0037-4BD4-8644-ADB66417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0980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2B28D7-19ED-477B-B720-F94E6F0E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266950"/>
            <a:ext cx="742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16 Jul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78B0F2-8AB0-4059-A675-68113948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0980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5996DE-312F-4DBF-9431-B0449207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66950"/>
            <a:ext cx="742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14 Aug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64BB2F-171C-4BCB-AF73-CEF8FB17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4B082A-2816-48D1-BB47-E5E29803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26695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21d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D16BF8-5931-4BCC-98DA-49257113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0980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2CEFA0-C7D3-4A52-9B47-69EF811E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9d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BF5439-9EC0-4E67-AA57-8255C4C2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09800"/>
            <a:ext cx="619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557E5E-30E0-4DA8-8EA2-C0654702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266950"/>
            <a:ext cx="523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53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C53B3B"/>
                </a:solidFill>
                <a:latin typeface="Helvetica Neue"/>
                <a:ea typeface="Helvetica Neue"/>
                <a:cs typeface="Helvetica Neue"/>
              </a:rPr>
              <a:t>+12d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C7F0A8-988A-43DD-B364-ADE3FA38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209800"/>
            <a:ext cx="42576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CE2E9A4-E3AC-43CE-83E0-DA774BDD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66950"/>
            <a:ext cx="41624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Outside lab / agency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1A9DF7-ED27-4B09-A570-FB20E43A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8FE0BF6-3872-45FB-9BE1-159A7A6B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514600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Polylactic Acid Powder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B2CAE3-57DE-416C-94BB-4919B5C5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574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A4D25E0-F5D4-4688-82B6-EAC1EF11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5146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20000035713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27028F8-1434-47C4-8395-9C8C49C9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5745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F9E8E43-F5BE-4D77-9CC8-24B64C59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14600"/>
            <a:ext cx="742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16 Jul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428B9E5-6ABC-4880-924D-FF432EBA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5745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87A34E3-A8CC-4697-B533-EF0DDD58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14600"/>
            <a:ext cx="742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18 Aug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9868678-5971-4001-B82F-B5FF6C22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5745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6BF7F8A-B28B-4CCB-9467-AA4AF9AC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5146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23d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0740BC4-FA05-4FBA-9A71-9C0803EA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5745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DE106EE-9482-4224-8BD3-877D52DA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5146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9d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6DE7883-9E2F-4946-9C32-EC11AC08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57450"/>
            <a:ext cx="619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E8F6224-B59C-4D34-95D6-58010A49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514600"/>
            <a:ext cx="523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53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C53B3B"/>
                </a:solidFill>
                <a:latin typeface="Helvetica Neue"/>
                <a:ea typeface="Helvetica Neue"/>
                <a:cs typeface="Helvetica Neue"/>
              </a:rPr>
              <a:t>+14d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3660610-FE3C-4641-ACB8-05584D9C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457450"/>
            <a:ext cx="42576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1389004-DF58-4272-84E0-E697E5F0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14600"/>
            <a:ext cx="41624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Outside lab / agency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A18D984-AB4A-4FC8-B8A6-E6CAFC49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C83C428-C793-466F-ADA2-5F8D82B9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762250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Tetrakis Phosphonium sulphate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3FB4F06-65B4-4A7C-B358-5F870D79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051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3D2794F-08E1-4022-AF05-3A50E082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7622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20000035822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902F4E6-07BB-4CFF-AD0B-DC19D0B0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0510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AB0F626-69FD-4FD2-A47B-83A4467C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762250"/>
            <a:ext cx="742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20 Jul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4DAB7B9-CC1A-4C43-BD96-AEDC9ED3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0510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5C13303-986E-43D1-80B0-0908975E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762250"/>
            <a:ext cx="742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18 Aug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E1FFE13-8C15-404A-AB59-5AB8B50F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0510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62A3E17-A573-4E70-9984-C9314C9B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76225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21d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7F83C08-59AA-4C5A-BB9F-DB1FD416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15ABE7A-0045-49D7-AA7D-91EC5BCB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76225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9d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094A06F-158B-4F9C-805F-076E8BAE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05100"/>
            <a:ext cx="619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853E1BC-C22D-47FD-B094-75615C23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762250"/>
            <a:ext cx="523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53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C53B3B"/>
                </a:solidFill>
                <a:latin typeface="Helvetica Neue"/>
                <a:ea typeface="Helvetica Neue"/>
                <a:cs typeface="Helvetica Neue"/>
              </a:rPr>
              <a:t>+12d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E052D0B-F869-4056-B0E7-C875ED6C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705100"/>
            <a:ext cx="42576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5AB5051-5A83-40E8-B451-D50FDFF2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62250"/>
            <a:ext cx="41624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Asset chemicals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887135A-FD25-4C88-8475-E636733A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8076F07-7270-4A62-8B2D-AD7377AA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009900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Tetrakis Phosphonium sulphate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7F37F1F-D42B-4DDB-BC8D-145B9090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527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EE0420E-6382-4935-87AC-655AC54E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0099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20000035823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01253FF-7BEC-42A8-88DA-925101BD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5275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1DEEEA8-5EAB-4588-AC65-343A7B3E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009900"/>
            <a:ext cx="742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20 Jul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AE32518-2431-46AB-B906-4D9ED16F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5275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A10421F-9522-4642-9F3A-304B6152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009900"/>
            <a:ext cx="742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18 Aug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825D3E3-5436-40C8-BB55-1BC4EF2C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95275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A9480D5-70B8-4752-A1AF-0A24E9C6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0099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21d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C6BAC80-8440-4427-9212-4E990AE1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5275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BDD123D-9D9A-43D0-9316-F9CEFE50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0099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9d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47592FE-C7AA-401C-9570-917C8A17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52750"/>
            <a:ext cx="619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BD22F6C-542C-4D66-9FAB-A76DAAB7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009900"/>
            <a:ext cx="523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53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C53B3B"/>
                </a:solidFill>
                <a:latin typeface="Helvetica Neue"/>
                <a:ea typeface="Helvetica Neue"/>
                <a:cs typeface="Helvetica Neue"/>
              </a:rPr>
              <a:t>+12d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FC3480E-2C25-4D6D-8C2A-2B7D62EA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952750"/>
            <a:ext cx="42576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FE0227B-961D-41D3-B942-AB2B7FD8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09900"/>
            <a:ext cx="41624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Asset chemicals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BDD0113-4DD1-405E-86D7-258AAA8E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040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E399201-F34A-4BA2-9126-B7D2F0C2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257550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SPAN-80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74D6998-C33E-4B16-A8EE-DBC50FE4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004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247C69F-6BE6-43C7-BC62-5CBD0CE9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2575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20000035833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3C730B5-1A14-4E60-904B-35D43C66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0040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FD408F3-10B3-4B06-BE0C-3FB34EDD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257550"/>
            <a:ext cx="742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27 Jul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E6822A6-95E9-4FEA-800A-B2A85D56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0040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5B82CEA-84FE-4DB2-B1B5-1F3DBE77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57550"/>
            <a:ext cx="742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10 Aug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1CAA9D2-68C2-4B3D-A0D6-79713D70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0040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ACA7186-DD47-4384-930A-9B2C37BB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25755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14d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2BD4EC8-BECC-4214-931C-F9B7E225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B996A2C-9A03-4D2B-8EF4-6DB5159B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5755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9d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A14810D-AC40-4AAD-B68B-508C5B07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00400"/>
            <a:ext cx="619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EE0F905-5BE6-4AD7-91AF-024FC8BF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257550"/>
            <a:ext cx="523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53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C53B3B"/>
                </a:solidFill>
                <a:latin typeface="Helvetica Neue"/>
                <a:ea typeface="Helvetica Neue"/>
                <a:cs typeface="Helvetica Neue"/>
              </a:rPr>
              <a:t>+5d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AC6597F-CA81-4460-9A20-821FFEEB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200400"/>
            <a:ext cx="42576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C144F5A-C20E-42B0-BDBA-D9E87626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57550"/>
            <a:ext cx="41624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Cotechna result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2230D04-89FE-4EF4-835A-3C359899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4805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CAA8F94-0ECE-43D4-B1F0-35FD7DD0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505200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Intermediate Strength Proppant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A197F06-C4F4-4BD3-87D1-C5820D78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480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9EF1C30-BB97-4295-B1A7-78C04FC6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5052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20000035925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819F737-E963-4782-924B-383C5567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4805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FADD4C0-3421-4DEB-B282-50D994D3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05200"/>
            <a:ext cx="742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27 Jul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C832DA4-5342-4B87-A998-3BBC7746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4805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A8A5311-E06F-43D8-8397-F2B9894C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05200"/>
            <a:ext cx="742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10 Aug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3CF7879-60BF-43DC-9866-AD23B795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44805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D0BDEB0-BE8D-48E1-AF3C-71CD37DF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5052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14d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245FE02-1F4A-431E-B2D4-5A57EFD2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4805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DEED99D-A2C4-4BB0-ADE2-161F8F69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5052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9d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748D33F-70D3-4E37-B735-240503F7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48050"/>
            <a:ext cx="619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579ADAF-24F2-4779-B8A2-783E40C2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505200"/>
            <a:ext cx="523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53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C53B3B"/>
                </a:solidFill>
                <a:latin typeface="Helvetica Neue"/>
                <a:ea typeface="Helvetica Neue"/>
                <a:cs typeface="Helvetica Neue"/>
              </a:rPr>
              <a:t>+5d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256ACBE-40B9-4280-833E-56A774C1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448050"/>
            <a:ext cx="42576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58B8035-1328-42C9-986F-40D825C4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05200"/>
            <a:ext cx="41624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Vadodara result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8035676-F5E1-4E42-BC4F-442C1B7C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32AA9F2-5C89-4D95-8690-887D61E9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752850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Potassium Lignite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C2DCC7C-ECAC-40A2-B739-E892DD1F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6957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0140968-7A09-4D1D-B1D7-CAF00D63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7528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20000035928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F53104B-9E02-4225-9C16-A8252A9F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9570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7750753-424E-4CF4-B658-F4641ADC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752850"/>
            <a:ext cx="742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29 Jul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F655F942-B5A8-43BA-A15F-00C8C6D6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9570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551ABB3-BC66-451C-9BBB-A7CF183B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752850"/>
            <a:ext cx="742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06 Aug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05E3D73-9FDE-4E10-BADF-2B327AE0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69570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3C73A71-E1B3-422A-8EB5-D6F7FC94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75285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8d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FD711050-40C0-4EDE-9F0B-817F268B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9570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6BEC1ED-2758-4539-888B-71FEE660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75285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5d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7A9FAB60-A096-4A17-BB9E-27813120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95700"/>
            <a:ext cx="619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52F8F2C-136D-43EA-B973-2BCBB4D9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752850"/>
            <a:ext cx="523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53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C53B3B"/>
                </a:solidFill>
                <a:latin typeface="Helvetica Neue"/>
                <a:ea typeface="Helvetica Neue"/>
                <a:cs typeface="Helvetica Neue"/>
              </a:rPr>
              <a:t>+3d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6D73898-0B65-41E1-861A-5FCB31F0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695700"/>
            <a:ext cx="42576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1952424B-0DE6-4A9B-A005-1C3D1945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52850"/>
            <a:ext cx="41624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Not recorded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FCA4A948-31FA-43EE-8F09-43ADA990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BC4B283B-41BF-469D-83F9-EC2E1058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000500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Low Strength Proppant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C51AD90D-7234-400A-9985-8C88A34D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433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75535010-D909-411A-8D61-AAFE7E86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0005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20000035929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36C1E874-E20E-4331-82A8-FBB2775F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94335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506F723C-31DD-4CE2-B649-13D0E4A4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000500"/>
            <a:ext cx="742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29 Jul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74F4B319-1A6E-4FAE-8353-2FBA932C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4335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62EDB019-7A2A-4CCC-A253-72167AF1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000500"/>
            <a:ext cx="742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10 Aug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26C5692E-345E-4201-8926-D57F7179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94335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8BD5D969-1271-431F-BC20-7D6767E3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0005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12d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A45C7A9B-27BE-4BD6-B05D-F5BF7A92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4335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063091F9-BAFB-49B6-9A9D-AE69EDEE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0005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9d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59551B15-04CE-4572-B54F-44B117A4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43350"/>
            <a:ext cx="619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19AE594A-77CE-41E1-B50E-718ADACE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000500"/>
            <a:ext cx="523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53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C53B3B"/>
                </a:solidFill>
                <a:latin typeface="Helvetica Neue"/>
                <a:ea typeface="Helvetica Neue"/>
                <a:cs typeface="Helvetica Neue"/>
              </a:rPr>
              <a:t>+3d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774F8EAD-C6C2-4761-8B5C-B65F9197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943350"/>
            <a:ext cx="42576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F5D184E0-9B4F-4FD0-A415-543142CE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000500"/>
            <a:ext cx="41624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Vadodara result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0FC027F9-0421-4EE5-A118-88349171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270AD34E-F396-498E-99F1-AF875944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248150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Sodium Hydroxide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521E018D-4E5F-43B1-B6A8-CB427B54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1910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AAE23170-6F10-4820-A707-D7170991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2481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20000035902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B1FBA089-161A-4950-AF31-6C8D66D0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19100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481E423C-9C31-4543-B8C2-E75EF828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248150"/>
            <a:ext cx="742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03 Aug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4787AB9A-49B4-41CF-98CD-E3584928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9100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D35A1234-2B1B-4682-8A9E-67BB8DA7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48150"/>
            <a:ext cx="742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06 Aug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D0D38762-C574-4C47-AE72-BA9B1657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19100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9A1A34FF-9DC7-43FA-AE71-477143D7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24815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3d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4327F97E-BF82-4DFE-9075-1820413A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9100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B65E21EE-4C60-4A11-9D2B-D98622EE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24815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1d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C660E9C3-A6C0-4401-ABFE-D2BB9DE8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619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70483695-EE92-409E-B619-07F84B78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248150"/>
            <a:ext cx="523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53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C53B3B"/>
                </a:solidFill>
                <a:latin typeface="Helvetica Neue"/>
                <a:ea typeface="Helvetica Neue"/>
                <a:cs typeface="Helvetica Neue"/>
              </a:rPr>
              <a:t>+2d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CB7F24A0-D298-4EE0-AF49-8D7D9028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191000"/>
            <a:ext cx="42576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80722A5E-CB59-45F3-8EB3-54B880F0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248150"/>
            <a:ext cx="41624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Not recorded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A3E0675F-7399-41ED-AAE3-144B0BE7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778B4523-BE8A-4CFD-8FCC-F71AF55A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495800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Polyelectrolyte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7A26116B-EF29-4C32-9CC4-945DE809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4386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13273450-93D4-4363-8B14-212907A5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4958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20000035965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0F797F08-883F-497E-AFE6-C682336F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3865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1F49A5B8-D6BD-4A14-8F6F-BED4A916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742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03 Aug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B6680FD3-234E-4B3F-B769-782F5271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3865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9E5328DF-340B-40C6-8397-51613E74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495800"/>
            <a:ext cx="742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13 Aug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A41586A5-9230-4477-BBF2-4269CBE8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43865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3EC0EC1E-2E1C-423B-900A-4FBD447D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4958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8d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9BC9D0C0-405C-4752-A61D-C42B6DA5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3865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2CFAC16D-E3E9-41B5-A5CF-3257C97E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4958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1d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E6068564-E0A0-448C-8DC1-49813387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38650"/>
            <a:ext cx="619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14BF4510-95BC-4F91-930F-EFC99FE4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495800"/>
            <a:ext cx="523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53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C53B3B"/>
                </a:solidFill>
                <a:latin typeface="Helvetica Neue"/>
                <a:ea typeface="Helvetica Neue"/>
                <a:cs typeface="Helvetica Neue"/>
              </a:rPr>
              <a:t>+7d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687149FD-91EA-43FB-80FE-0D79E26E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438650"/>
            <a:ext cx="42576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1D2189C5-8BE6-4EA8-9462-78C44E13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495800"/>
            <a:ext cx="41624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Outside lab / agency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74BBE62C-0CCC-4ED5-8198-C0F22774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630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FCF4FC1E-80A0-400E-B5EF-5B481E2D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743450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TWEEN-80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C13AB241-BB94-4579-AD41-391B8713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6863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95094F00-F1D3-4171-831B-88B606D2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7434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20000035968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066D46F5-76E8-4F3B-9985-9AAE89C8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68630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A51D1596-B03B-43FD-B7D4-B9767B8E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743450"/>
            <a:ext cx="742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03 Aug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E0A32C58-A013-4E15-B777-486E45F4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8630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21B85428-E2AD-4367-A9DA-8CB723AC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743450"/>
            <a:ext cx="742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17 Aug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41EED811-0328-4317-B353-67AED0C0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68630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CE464645-1EFC-4A36-9274-D59885ED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74345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10d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670AFE22-0AAD-4479-83D2-9D36CBA2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8630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C9DB084F-63E3-4A55-86F0-46026BD9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74345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9d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FE4CAE79-77B6-4D45-9CC0-65F361A8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86300"/>
            <a:ext cx="619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07786DD3-FBF8-4C99-913F-34AD2A17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743450"/>
            <a:ext cx="523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53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C53B3B"/>
                </a:solidFill>
                <a:latin typeface="Helvetica Neue"/>
                <a:ea typeface="Helvetica Neue"/>
                <a:cs typeface="Helvetica Neue"/>
              </a:rPr>
              <a:t>+1d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5FB0EA4A-4101-4F14-B5EB-C5D781D0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686300"/>
            <a:ext cx="42576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A616523C-3595-4086-AC26-6C810B12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743450"/>
            <a:ext cx="41624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Outside lab / agency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3E7E10EC-E865-4B05-BB4C-8B565FE3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3395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A6ECF16F-53CC-4D3F-869D-2FF447CB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991100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Polyelectrolyte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29818153-F939-47FE-BCE5-F93CBA1B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9339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14BCD93C-CFA1-4368-95DE-73CAB86A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9911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20000036024</a:t>
            </a:r>
          </a:p>
        </p:txBody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E94D99F4-043C-44B9-BF68-9878486A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93395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0BE26170-5591-4D30-9C3E-71D1A52F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991100"/>
            <a:ext cx="742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06 Aug</a:t>
            </a:r>
          </a:p>
        </p:txBody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E42B5A35-D08A-4566-A6DC-22F185B1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3395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C4B02059-30B6-4E30-AF41-676FB82C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991100"/>
            <a:ext cx="742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18 Aug</a:t>
            </a: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61A6A270-34C1-4126-A275-429D98B6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93395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CD3C52B0-6898-4639-A842-6B5AA912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9911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8d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80E5A826-4428-4BAD-9989-9FA87689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3395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A663C25B-39E3-4EE3-8EE7-154358DB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9911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1d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E1835479-2D27-44B2-B90F-34FDAD6E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33950"/>
            <a:ext cx="619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9701F7AF-D18D-4C0C-90F3-E08E83D4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991100"/>
            <a:ext cx="523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53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C53B3B"/>
                </a:solidFill>
                <a:latin typeface="Helvetica Neue"/>
                <a:ea typeface="Helvetica Neue"/>
                <a:cs typeface="Helvetica Neue"/>
              </a:rPr>
              <a:t>+7d</a:t>
            </a:r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BC8A51E2-A801-4C57-9D68-10EE258A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933950"/>
            <a:ext cx="42576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201614C1-77D5-4F06-989F-E0594967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991100"/>
            <a:ext cx="41624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Outside lab / agency</a:t>
            </a:r>
          </a:p>
        </p:txBody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49B010E1-2A05-4F21-A3D1-1B781AC2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DCAE868A-D520-44B8-8B08-C2C56ABC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238750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Soda Ash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827B7471-048C-465C-80C3-103F766B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816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85DFD24E-147F-43BE-908E-354276CF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52387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20000036055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F206A56C-E299-41D8-9EFD-89EE3C5B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18160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518961FF-3132-4BF7-B599-D173E36D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238750"/>
            <a:ext cx="742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07 Aug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8C5A3E75-1477-48D5-AE51-1D92826A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8160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FF66A115-E2C5-43B0-A1BA-DCB229BC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238750"/>
            <a:ext cx="742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10 Aug</a:t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DD1227C1-DE53-41FB-9918-211354A5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18160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299BEB70-4766-44D4-81BB-FA7F024A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523875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3d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48BAFCBF-7AF9-4F23-98DC-5C91E6A7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8160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5D2771D7-DA70-45B8-8EFD-C9588F98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23875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1d</a:t>
            </a:r>
          </a:p>
        </p:txBody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253D4CA5-31BF-43C1-AE5E-B3E3AA45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81600"/>
            <a:ext cx="619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6DA90554-600F-4151-A552-9495BC17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238750"/>
            <a:ext cx="523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53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C53B3B"/>
                </a:solidFill>
                <a:latin typeface="Helvetica Neue"/>
                <a:ea typeface="Helvetica Neue"/>
                <a:cs typeface="Helvetica Neue"/>
              </a:rPr>
              <a:t>+2d</a:t>
            </a:r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808FB6A8-B1F5-4296-B5FB-8B81DC13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181600"/>
            <a:ext cx="42576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7FC58C87-2512-47AF-ACA7-4F84BDF5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238750"/>
            <a:ext cx="41624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Not recorded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0BC7F347-C7FE-46F0-8BAC-34C5EB5B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C66BB56A-6692-4725-9BD2-B2B1C2C0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486400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Soda Ash</a:t>
            </a: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D0F059A0-A415-4114-A134-CD0801C4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4292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5998E980-0234-4B6F-8D5E-723B4EB5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5486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20000036009</a:t>
            </a:r>
          </a:p>
        </p:txBody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DAD10CFF-E6B7-411F-8B0A-AAEB5450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42925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C95E3199-29EB-40DC-BE68-0F8DB4A4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86400"/>
            <a:ext cx="742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10 Aug</a:t>
            </a:r>
          </a:p>
        </p:txBody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57D9C91D-8F3F-4D83-9859-2261AC92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2925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3EF982EC-A775-42B1-8465-85E5221B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486400"/>
            <a:ext cx="742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13 Aug</a:t>
            </a:r>
          </a:p>
        </p:txBody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5C145601-E7E5-4C7F-81F4-3F3A8E5A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42925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DB368318-5A1A-4B51-884F-EA749406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54864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3d</a:t>
            </a:r>
          </a:p>
        </p:txBody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EAC08442-A799-452F-BE62-51B61D07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42925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3009EF9E-76D7-4763-ABAA-5032FC17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4864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1d</a:t>
            </a:r>
          </a:p>
        </p:txBody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994D54E4-490C-4E99-8C28-7AB9891F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429250"/>
            <a:ext cx="619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8A9ED398-82F7-44E6-94CB-99426261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486400"/>
            <a:ext cx="523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53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C53B3B"/>
                </a:solidFill>
                <a:latin typeface="Helvetica Neue"/>
                <a:ea typeface="Helvetica Neue"/>
                <a:cs typeface="Helvetica Neue"/>
              </a:rPr>
              <a:t>+2d</a:t>
            </a:r>
          </a:p>
        </p:txBody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CBB71213-12F1-42EC-BE7C-73A38BC8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429250"/>
            <a:ext cx="42576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246AAE4D-7F3A-45DD-8539-5126CB21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486400"/>
            <a:ext cx="41624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Not recorded</a:t>
            </a:r>
          </a:p>
        </p:txBody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EF6CEE86-684C-4337-AA68-122A4438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F992AA37-8C0C-453F-A821-853C6373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734050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Soda Ash</a:t>
            </a:r>
          </a:p>
        </p:txBody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00A99AAB-3972-4DF0-90F0-197931F4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6769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98F1E819-8DFA-47DB-B843-77B3450A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57340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20000036012</a:t>
            </a:r>
          </a:p>
        </p:txBody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3F690B42-7CB2-44C0-9297-391021E5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67690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6A4CB199-BEDD-4756-95B1-CE65E6C3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734050"/>
            <a:ext cx="742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12 Aug</a:t>
            </a:r>
          </a:p>
        </p:txBody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A2312DF6-70CD-4D6A-BA95-2640CC5E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7690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AC3702A4-527F-4593-BA1B-A693EDA2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734050"/>
            <a:ext cx="742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14 Aug</a:t>
            </a:r>
          </a:p>
        </p:txBody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F86E87CD-296F-4BEE-B2DD-B9314160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67690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FD81BCDA-BBB8-41E1-A3A7-1C0FD49E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573405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2d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5836203F-9078-4C43-B9BD-1057EA95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67690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B008A79F-C839-4513-92AD-A7086721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73405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1d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7B226A4D-5E7B-41C4-A93B-10B3CAAF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676900"/>
            <a:ext cx="619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78A7EE9F-8CAC-42D4-8A20-624065BE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734050"/>
            <a:ext cx="523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53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C53B3B"/>
                </a:solidFill>
                <a:latin typeface="Helvetica Neue"/>
                <a:ea typeface="Helvetica Neue"/>
                <a:cs typeface="Helvetica Neue"/>
              </a:rPr>
              <a:t>+1d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D7AFA8A8-AADB-459D-9800-618E56C0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676900"/>
            <a:ext cx="42576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1405D4DF-7459-4602-8083-0944E7F6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734050"/>
            <a:ext cx="41624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Not recorded</a:t>
            </a:r>
          </a:p>
        </p:txBody>
      </p:sp>
    </p:spTree>
    <p:extLst>
      <p:ext uri="{BB962C8B-B14F-4D97-AF65-F5344CB8AC3E}">
        <p14:creationId xmlns:p14="http://schemas.microsoft.com/office/powerpoint/2010/main" val="3805868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BC016E77-23DC-4803-8A61-4803C0AB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23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11DDCE-9809-4C79-8122-D5C03D16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976D2"/>
                </a:solidFill>
                <a:latin typeface="Helvetica Neue"/>
                <a:ea typeface="Helvetica Neue"/>
                <a:cs typeface="Helvetica Neue"/>
              </a:rPr>
              <a:t>RGL PANVEL · AUGUST COMPLETED SAMPLES WITHIN SLA</a:t>
            </a:r>
          </a:p>
        </p:txBody>
      </p:sp>
      <p:pic>
        <p:nvPicPr>
          <p:cNvPr id="2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29843ba6234339"/>
          <a:stretch xmlns:a="http://schemas.openxmlformats.org/drawingml/2006/main"/>
        </p:blipFill>
        <p:spPr>
          <a:xfrm xmlns:a="http://schemas.openxmlformats.org/drawingml/2006/main">
            <a:off x="11001375" y="22860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23BB5-33A6-4962-A163-C724F8C2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5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4BFB87-36FE-46FC-AA7E-CD027347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rPr>
              <a:t>Source: RGL Panvel QC Laboratory Monitoring data · August 2026 · Status as at 20 Aug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0B7589-8E97-4680-957B-2B54B88F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E380A4-9BFE-46E3-A401-FA08F520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14 completed samples within the applicable SLA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194B3C-AF46-4721-9942-FFD2F56C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rPr>
              <a:t>Material standard used where defined; otherwise the 9-day review SLA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92052E-355C-4420-A5E8-802199B9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3337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42"/>
          </a:solidFill>
          <a:ln xmlns:a="http://schemas.openxmlformats.org/drawingml/2006/main" w="9525">
            <a:solidFill>
              <a:srgbClr val="071D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B537FA-5AA1-4A42-AC90-EF0AC771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009775"/>
            <a:ext cx="323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Chemical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29462E-120F-466F-A226-C266BF56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52625"/>
            <a:ext cx="14287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42"/>
          </a:solidFill>
          <a:ln xmlns:a="http://schemas.openxmlformats.org/drawingml/2006/main" w="9525">
            <a:solidFill>
              <a:srgbClr val="071D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278C07-1649-478D-92EC-2B049A15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9775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Notification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0FE6E9-BB32-4376-B10D-5079062C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52625"/>
            <a:ext cx="10477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42"/>
          </a:solidFill>
          <a:ln xmlns:a="http://schemas.openxmlformats.org/drawingml/2006/main" w="9525">
            <a:solidFill>
              <a:srgbClr val="071D4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D3CED7-5751-4517-BDC6-041A8898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00977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Received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76B9C4-A5EC-4B4D-9A34-0CE5B310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52625"/>
            <a:ext cx="10477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42"/>
          </a:solidFill>
          <a:ln xmlns:a="http://schemas.openxmlformats.org/drawingml/2006/main" w="9525">
            <a:solidFill>
              <a:srgbClr val="071D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DC1A7D-C9B5-476A-BA3D-FDC7A892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0977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Reported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DE698C-AE50-44BB-977B-EA3B330E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952625"/>
            <a:ext cx="6191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42"/>
          </a:solidFill>
          <a:ln xmlns:a="http://schemas.openxmlformats.org/drawingml/2006/main" w="9525">
            <a:solidFill>
              <a:srgbClr val="071D4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9B861D-C9AC-4964-BEB3-648C211A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009775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9B2648-C77E-4B7A-ADFB-855CE73F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952625"/>
            <a:ext cx="6191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42"/>
          </a:solidFill>
          <a:ln xmlns:a="http://schemas.openxmlformats.org/drawingml/2006/main" w="9525">
            <a:solidFill>
              <a:srgbClr val="071D4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11DFB1-064B-4E83-961E-3CCA2E8B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09775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SLA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DCEF7A-EEAA-4BF4-B8E8-CA7B96CC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52625"/>
            <a:ext cx="1504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42"/>
          </a:solidFill>
          <a:ln xmlns:a="http://schemas.openxmlformats.org/drawingml/2006/main" w="9525">
            <a:solidFill>
              <a:srgbClr val="071D4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6B9C3C-F25C-45EC-B5BB-74C01A6E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009775"/>
            <a:ext cx="1409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Outcome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A20BDB-E13F-467A-98B1-E50D1A40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52625"/>
            <a:ext cx="17907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42"/>
          </a:solidFill>
          <a:ln xmlns:a="http://schemas.openxmlformats.org/drawingml/2006/main" w="9525">
            <a:solidFill>
              <a:srgbClr val="071D4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AC84EB-BDD4-4D63-9867-EC3A2B52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009775"/>
            <a:ext cx="1695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SLA basis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CA452A-D9A3-49B4-8312-D3D7931F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F0469D-8C15-4183-BA01-1325F5D2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266950"/>
            <a:ext cx="3238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SPAN-80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CDA713-FABB-41D3-9CEE-AD6B1887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098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9A08CF-5073-4145-B16A-14C4AC3D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266950"/>
            <a:ext cx="1333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20000035966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5F1F59-5B1F-407C-9C33-E8DA0839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0980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C02F28-2D17-4BF1-BB21-08422CCF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266950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03 Aug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B3338C-7168-46A5-B2F2-083161C9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0980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C8E4D5-A44F-4FD2-A3FC-35333341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66950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13 Aug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B16646-0EA1-43FB-B16C-E964D3BB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09800"/>
            <a:ext cx="619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4072AC-1A5D-4BD3-B4AC-B26BDCD7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266950"/>
            <a:ext cx="523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8d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773977-6C71-4760-996A-ACADF239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209800"/>
            <a:ext cx="619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39CD8A-17E4-43ED-94F5-A3AA95B5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66950"/>
            <a:ext cx="523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9d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33F74A-C4BA-47DA-B040-72A94A72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0980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B9B7A2-916C-4C9E-9BE0-BF3A58F2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266950"/>
            <a:ext cx="1409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4425A1-4CE5-488B-8CAC-D6422C11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09800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40FC58-7490-427E-B000-FAA92167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266950"/>
            <a:ext cx="1695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9-day fallback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D4389E-E07C-490C-AAAF-9C5974A1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E561471-5897-4AAC-968E-6D755701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514600"/>
            <a:ext cx="3238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Sodium Chlorite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06CABF7-197A-4F01-A970-446258C4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574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B577266-190F-40CB-B576-B828A912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514600"/>
            <a:ext cx="1333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20000035967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E9045A-A1A3-4853-B9CB-6BA4CD01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574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65552B1-DF8B-4806-B5E7-8DEDE1EF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514600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03 Aug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1D8EEB1-2D80-4FE5-970D-4CCD1876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574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1E7D219-A6F3-408B-B32B-ADDC02F3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514600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06 Aug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C433F3E-663D-4121-93D8-5E5DE268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57450"/>
            <a:ext cx="619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6352455-74A5-49ED-8307-18640BE1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514600"/>
            <a:ext cx="523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3d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0B96A5B-3E6C-4473-9D4B-F3C156B7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457450"/>
            <a:ext cx="619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9A4513F-B6FB-4CB2-9DF2-CDFEBCC5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14600"/>
            <a:ext cx="523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9d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E9FA857-9496-40D9-8B3C-6DA8801D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5745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8C049D3-44CF-4587-A44E-1B808EF9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514600"/>
            <a:ext cx="1409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Fail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7FE8224-9376-420D-9A33-1DB21525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57450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696E926-C3C0-4309-8C8F-794C9D6A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514600"/>
            <a:ext cx="1695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9-day fallback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F5B1301-8917-488C-9AA9-A8C475F6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81978E5-18D4-4D58-8DB9-989F7E01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762250"/>
            <a:ext cx="3238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LTD for MH Asset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18FB558-2DF2-45A9-B79E-DD9B2272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051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30A0A9A-C605-4BEE-A5F4-44B37BBF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762250"/>
            <a:ext cx="1333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20000036005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E001E52-CDB5-45AC-91D8-59BA1F2F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0510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1BAE1D4-A7CC-4EDC-AF24-5139DDAE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762250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10 Aug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1838D27-4219-445B-8756-CDD0E572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0510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C15D9DF-6F5B-4713-A8E8-DC6E50B4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762250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12 Aug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21FC571-629B-441B-B2BD-485160B6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05100"/>
            <a:ext cx="619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3B77C5E-1AD4-4583-B748-517D9369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762250"/>
            <a:ext cx="523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2d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D9EA63E-B98E-44EC-988A-1D7BE9B2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705100"/>
            <a:ext cx="619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320990A-7D31-4BC5-B9E9-1D6E4BED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62250"/>
            <a:ext cx="523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9d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A4EAA0C-B30C-4FAF-91DE-F96E8286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0510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41031A4-6B58-42E0-A91A-B7F7E1C9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762250"/>
            <a:ext cx="1409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Fail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4B5A264-D751-47FA-AF45-C6E5CB3F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05100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F91AAC9-F18F-410D-BBF7-DC9CC283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762250"/>
            <a:ext cx="1695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9-day fallback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0953F02-DB09-4088-B27B-AEA1D0BF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F5B3FA0-098A-4476-9795-79A5712D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009900"/>
            <a:ext cx="3238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LTD for MH Asset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2418CB8-677D-48E4-B907-6DBA1A99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527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1C2B109-8D83-49AB-803B-F2AE7A90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009900"/>
            <a:ext cx="1333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20000036006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39B4648-2F05-421C-BB73-0BAC7AFE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527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FB54377-733A-49B7-BDDA-B5BAFD71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009900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10 Aug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5F0476B-DC96-4C58-9C99-FEBAC40C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527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2A0B343-79BD-48A8-A6D0-8B46283D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009900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12 Aug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44A33A0-5D61-4624-BB07-6CC693BB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52750"/>
            <a:ext cx="619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020FACC-0A6B-4742-9221-67005249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009900"/>
            <a:ext cx="523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2d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B8F5FF7-2F57-45FA-84A3-1E14965E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952750"/>
            <a:ext cx="619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3187138-2D52-4229-B53C-BFDEA8D9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09900"/>
            <a:ext cx="523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9d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612967D-FB2A-411D-A2EC-C8282954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5275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A483C60-7E7C-4D8D-91E3-9865F5EB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09900"/>
            <a:ext cx="1409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Fail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2C23265-1436-4332-B6E4-B5B662AC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52750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8CF1FCE-B050-479A-8051-2D0B6CCA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009900"/>
            <a:ext cx="1695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9-day fallback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F39CB5E-2244-4779-956B-82413FFA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040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97FFA0E-6C7A-4D83-BE4B-14332661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257550"/>
            <a:ext cx="3238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Drilling Detergent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C509D08-4C24-4AE2-8FC9-85B82383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004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8BF17FF-6E8A-4B34-9829-2671D604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257550"/>
            <a:ext cx="1333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20000036007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22D915B-D757-4A37-9FDD-4D97090E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0040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2634DCA-A3EC-479A-8D43-22FC24D1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257550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10 Aug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C3AD023-0281-4F03-AE01-13EC2E7C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0040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DBF4D63-A18D-4687-8817-E491FA95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257550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12 Aug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0703E14-141C-4DCB-A849-E8D9FCAC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00400"/>
            <a:ext cx="619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90B3299-0ED6-482F-9AE7-1CA3AA5F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257550"/>
            <a:ext cx="523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2d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1E6B1D4-9668-4693-BA82-4EEA4D71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200400"/>
            <a:ext cx="619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27C49D1-709B-4049-94E3-E2994243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57550"/>
            <a:ext cx="523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4d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3ACB38F-8716-4F45-9E02-88162B50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0040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E5A91FE-AE1B-40E0-947A-6CC8DBAD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257550"/>
            <a:ext cx="1409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70046A2-420D-4109-8268-70BFBFD6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00400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08C574B-B765-4DF7-9226-73E2D263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257550"/>
            <a:ext cx="1695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Material standard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9FC3D14-09F2-444F-ABC1-553F4320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4805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E89DC6D-276E-4CD8-8A4F-34FAC695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505200"/>
            <a:ext cx="3238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PPD Ankleshwar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2052279-3271-4BFB-8714-2CEA79CE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480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2136087-AC11-4C41-9F8B-7F7A1C5D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505200"/>
            <a:ext cx="1333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20000036008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8C9A39C-7E07-4C71-8854-2CB61BD3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4480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311AF9E-4874-4871-9237-85739A0B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505200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10 Aug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A73AF1A-DDF9-4D1B-9EB3-22D23A4C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480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BD4B450-1903-416C-BC91-F139F7AE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505200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18 Aug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1E72DAE-4BA3-481B-BDB4-4E3ADFF3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48050"/>
            <a:ext cx="619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78467E9-CF75-4525-BD11-C28DEF40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505200"/>
            <a:ext cx="523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6d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B9A8397-E809-4FFD-8A3D-2DFCDE31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448050"/>
            <a:ext cx="619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80CDC9B-EC39-4995-9E3D-68E2582E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05200"/>
            <a:ext cx="523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9d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6BF05D6-F5CA-4C55-879A-FBB381A7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4805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495B4CC-8C75-4594-BB0B-8EC71194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505200"/>
            <a:ext cx="1409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FFD9ACF-990B-4936-953C-9D12EED3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448050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AA49D99-70A0-4BF7-8644-365EE35B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505200"/>
            <a:ext cx="1695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9-day fallback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1B2C9B4-D7DE-4524-B88B-CDF18738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019EE07-2E82-4F22-8E32-53284588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752850"/>
            <a:ext cx="3238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Sodium Chloride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7BB4505-8307-4F47-85DB-8FF70DCE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957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D697728-6C58-45F1-AC55-6B0ACA39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752850"/>
            <a:ext cx="1333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20000036038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07162E0-E1F8-4126-BA77-B1B9FEAC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69570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E46ED53-29E8-4D06-89AB-391EAB9E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752850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11 Aug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4511E4E-A44D-47F4-98D4-5EA24A2C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9570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A7F11B4-6F47-4C41-A56F-9D5E8955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52850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14 Aug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0B760C2-3E5A-482B-878E-09AF3DFB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95700"/>
            <a:ext cx="619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731C0A2-544E-4318-B733-1D2C219D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752850"/>
            <a:ext cx="523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3d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39BA294-67D8-4438-BC0D-5DDDE1C5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695700"/>
            <a:ext cx="619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1A04ADC-520E-455C-91D5-886FD7DA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52850"/>
            <a:ext cx="523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9d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E1070460-633B-4143-9108-B2DDC907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9570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BD07A400-0298-48C6-8438-03229DBE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752850"/>
            <a:ext cx="1409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F65B6D96-F5F7-4697-A101-79B7DD25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95700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F3D27D8-2753-4AE9-BA65-9603A471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752850"/>
            <a:ext cx="1695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9-day fallback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FE21A291-40B6-4E5C-A1DB-55007C06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68F0EDF-5BFB-4670-8973-1B1BF484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000500"/>
            <a:ext cx="3238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THPS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D0314358-8755-4A59-A951-B3FCA3B6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433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5148B6C0-BADF-43CD-80B9-5A146D32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000500"/>
            <a:ext cx="1333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20000036039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D28D0A56-99C0-4E3C-AD8F-BF54A729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9433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0EE5700E-929F-43A8-82D4-11F46C72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000500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12 Aug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06AFC93C-F40C-474E-B4CA-402F4700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433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067103B4-26DB-42DE-8296-68F9BC4B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000500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19 Aug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48DEBFE8-3C8A-4714-AEE0-2B7147E4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943350"/>
            <a:ext cx="619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AA099B56-D81E-46B9-A1ED-CAE2A2AA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000500"/>
            <a:ext cx="523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5d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2EE352DB-261C-4AA7-AE0F-1CCC8F17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943350"/>
            <a:ext cx="619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9F31AEE1-2B8A-4F6D-9B5E-3F794E77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00500"/>
            <a:ext cx="523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9d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DD7D57D4-1AB9-491C-BBAE-35E7E5CA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4335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E1C5595B-9BEC-4F0E-86F5-C05B2494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000500"/>
            <a:ext cx="1409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8E8516AD-75E1-4CF5-BFD9-98206940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43350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FACBD75B-CE2A-4786-9FB0-378AA0DC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000500"/>
            <a:ext cx="1695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9-day fallback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AE75C52B-5D0B-4F51-B8FA-EB484236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1959B285-0EE5-4897-B914-39C3BBF9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248150"/>
            <a:ext cx="3238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Superior Grade Sodium Chloride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59B4FDDC-87B9-4841-AE00-9E1711BD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1910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03370103-F97E-40AD-A904-B3870C02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248150"/>
            <a:ext cx="1333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20000036081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FEC12F8D-468B-4065-94A7-72DC1A8C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19100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489511D1-0991-43FB-8F83-1FAB1C3D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248150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13 Aug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C502C81B-8D82-49C4-94A9-6D190648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9100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0D6842FC-5269-45F4-BB9F-630C93C3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248150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17 Aug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367A8F71-8A7F-419E-BB97-B0CAE901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191000"/>
            <a:ext cx="619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564E229D-B48C-4E12-908D-DA6B80DA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248150"/>
            <a:ext cx="523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2d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C94C7019-9467-4689-9F65-4C33BFC4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191000"/>
            <a:ext cx="619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27DB5323-8D26-4CF9-BE96-61D250B8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48150"/>
            <a:ext cx="523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2d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B6E2FF4C-5579-4179-AC05-8612ADC0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9100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B18064D5-3D19-4C45-96B6-C57E3E11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248150"/>
            <a:ext cx="1409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AA3DB9CC-E99B-49C2-81A3-4EC825FF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191000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5F5D3119-32B6-4DD6-BA50-6C255263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248150"/>
            <a:ext cx="1695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Material standard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ECBE170B-F8FF-4D81-90A6-202C42E0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F669B7B3-DA52-435F-A3B3-F8E6A31F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495800"/>
            <a:ext cx="3238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Superior Grade Sodium Chloride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CC50AA6C-3D5B-4DEF-9FCD-C1B952AC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386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643CE883-8FDB-4C9D-BB76-D1E28E64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495800"/>
            <a:ext cx="1333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20000036082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C13EA9A5-CFCC-4EDA-ADD3-6BB50470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4386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0875B9B3-D4A0-4D6A-8DF6-2911A683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495800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13 Aug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A7C3B4D8-E346-47A5-93E6-F1141B42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386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C6A6BECF-58C5-4ED6-808D-A5B879FC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495800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17 Aug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CC59716A-0F88-4FF1-A045-570C3E42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38650"/>
            <a:ext cx="619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385EB407-E595-4DCE-A752-C292AF5F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495800"/>
            <a:ext cx="523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2d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71814F44-E796-4BE8-9396-92911AA0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438650"/>
            <a:ext cx="619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C82BCD57-3B98-4091-AAFC-7B08120D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95800"/>
            <a:ext cx="523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2d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18EDC9EB-1A67-4EFB-BC16-0D3377FD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3865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CD88A720-8EE0-46AD-A1A4-9208A08D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495800"/>
            <a:ext cx="1409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BFBF54C2-7102-4077-A373-D199CCA2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38650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F595EAEF-A81E-418F-9A54-7FB916A1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495800"/>
            <a:ext cx="1695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Material standard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A5427052-44E0-44BF-958A-F8B36973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630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D6F10576-9CC0-46B3-BEB0-90A9664E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743450"/>
            <a:ext cx="3238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Superior Grade Sodium Chloride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E3201D50-0A48-4A4B-A95F-30102EB2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6863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29CFD1BA-A939-4923-A4B7-1E3E9756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743450"/>
            <a:ext cx="1333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20000036083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370C3278-665F-49E6-8DC6-FF40B1B1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68630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1E12592E-3396-4F47-942D-F16F66FB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743450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13 Aug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DB416997-1655-43EB-8202-9FF74CD2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8630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D355CE24-31C2-49B0-BD4E-60C1926D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743450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17 Aug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A95043B9-B6E4-4079-A5F5-45229917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686300"/>
            <a:ext cx="619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3965A75E-AB31-4BD7-B7BC-55EA2EC0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743450"/>
            <a:ext cx="523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2d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117A556D-BB8E-4B85-8CC8-6A714E7A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686300"/>
            <a:ext cx="619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9CDEB1FA-6D37-4097-9FB7-48261DB7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43450"/>
            <a:ext cx="523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2d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90194E49-C3BB-4E34-9CF4-5E7F06D3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8630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D16A98AC-BB2D-45BB-88EE-60973469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743450"/>
            <a:ext cx="1409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37188988-9DD3-43AC-872B-A09BB091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686300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E29F2117-D612-42BD-80AC-463AB9A0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743450"/>
            <a:ext cx="1695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Material standard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7CF706A9-EA78-420B-BD5D-C09C7DF4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3395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D2BF9410-A591-4AF0-9AC5-EE69B6B9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991100"/>
            <a:ext cx="3238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Superior Grade Sodium Chloride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3AB50993-8EB0-4D19-ADE0-556D5857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339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13DA59C8-74FC-493F-8D26-DC1EF494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991100"/>
            <a:ext cx="1333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20000036107</a:t>
            </a:r>
          </a:p>
        </p:txBody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2171E9A3-6551-4F2A-9239-C13C0242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9339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241D54A5-DDE9-48B1-AB78-1AE5A752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991100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13 Aug</a:t>
            </a:r>
          </a:p>
        </p:txBody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2AD32613-1614-4E7E-9933-31AE0ECF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339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55D228AE-AE91-4E85-8DB5-17A9769A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991100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17 Aug</a:t>
            </a: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CA407018-D55A-4CED-8401-76217C9B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933950"/>
            <a:ext cx="619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BBC61C09-74A9-4069-BC4B-E523956C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991100"/>
            <a:ext cx="523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2d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001FE2E4-67B3-43D4-B9BA-4A2A8C94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933950"/>
            <a:ext cx="619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58651510-73A8-41FB-B7B7-44F70AA0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91100"/>
            <a:ext cx="523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2d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2D65D0D9-A0F0-46B1-8ABA-BAFF059E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93395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0F8C0CCD-564E-408C-9658-5B0D0230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991100"/>
            <a:ext cx="1409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E9E23F4C-15F1-43C9-A094-FB1D8112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933950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7DE74A5A-9F63-4111-B20F-01B7A062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991100"/>
            <a:ext cx="1695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Material standard</a:t>
            </a:r>
          </a:p>
        </p:txBody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D9EC804E-6A2A-4C01-8AB4-2EB8BC00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9C72B284-0D67-44D2-A5BD-061184A9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238750"/>
            <a:ext cx="3238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Superior Grade Sodium Chloride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6A4B8825-6275-4FAD-A9D4-71920CC7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1816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65D5B7EB-7D25-4576-B4F7-DF20D93D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5238750"/>
            <a:ext cx="1333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20000036108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12CC9436-C633-46D0-BA53-512AD870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18160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CD5F5F76-EE6F-42BA-8049-DF878973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238750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13 Aug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49274E62-8B4C-4434-82CB-B95A64B9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18160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C14EBB6D-808C-4498-B522-47AD91FE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238750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17 Aug</a:t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EDE306EB-081B-4FE4-BF8C-FC4F60B8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81600"/>
            <a:ext cx="619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4D52AA3B-4AB6-47EE-A7BA-5DDF906A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5238750"/>
            <a:ext cx="523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2d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683CA833-06E1-42AE-9A6B-403AD3A3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5181600"/>
            <a:ext cx="619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C26025D4-0E5D-4D64-BCA8-CD12AB8F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238750"/>
            <a:ext cx="523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2d</a:t>
            </a:r>
          </a:p>
        </p:txBody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7F5C75BD-8D79-4239-ABA6-4C276C60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8160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EE6B38E6-9EA4-4A07-BAE0-5AF0C54F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5238750"/>
            <a:ext cx="1409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AB45A2B4-8967-49B9-904A-C9F384C6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181600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AFCC4B30-BED3-4FD1-AB50-B3692049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5238750"/>
            <a:ext cx="1695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Material standard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7A8193D2-A75A-442C-A730-3425BB49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A300D252-742B-4311-ABF4-A9CBE553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486400"/>
            <a:ext cx="3238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Superior Grade Sodium Chloride</a:t>
            </a: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B6D0759E-2A88-4E54-A6D2-EF01C259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4292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3779EA8B-6D43-4461-8B68-EE5693D3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5486400"/>
            <a:ext cx="1333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20000036106</a:t>
            </a:r>
          </a:p>
        </p:txBody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6FDD185C-9EB9-4B59-8570-2A8DBAF5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4292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9D150DF5-8AC9-4BD7-8F24-3F7BF8A5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486400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13 Aug</a:t>
            </a:r>
          </a:p>
        </p:txBody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E97EC6D1-7CA5-447D-A4EE-F3BF07D3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292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F5B2A3B8-EA22-4A68-BCEC-F4BDDC5F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486400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17 Aug</a:t>
            </a:r>
          </a:p>
        </p:txBody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C4BD1DCE-5937-42BE-8F05-44F23AAF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429250"/>
            <a:ext cx="619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35D9E94E-A73B-42CF-A4F4-AFD7A82E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5486400"/>
            <a:ext cx="523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2d</a:t>
            </a:r>
          </a:p>
        </p:txBody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D8753998-4560-4E5A-9C83-27D6513E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5429250"/>
            <a:ext cx="619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4D17BC28-9CFF-4CA1-A29C-25C3F51A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486400"/>
            <a:ext cx="523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2d</a:t>
            </a:r>
          </a:p>
        </p:txBody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E7B1BD39-DC8B-4F88-A2C4-A0694FB0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42925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30C6317B-945D-45E2-9B82-BC2E4CFE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5486400"/>
            <a:ext cx="1409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291F8599-56F3-4BF3-9242-0B89138A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429250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8F73CC3C-4495-4790-984A-4AB34477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5486400"/>
            <a:ext cx="1695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Material standard</a:t>
            </a:r>
          </a:p>
        </p:txBody>
      </p:sp>
    </p:spTree>
    <p:extLst>
      <p:ext uri="{BB962C8B-B14F-4D97-AF65-F5344CB8AC3E}">
        <p14:creationId xmlns:p14="http://schemas.microsoft.com/office/powerpoint/2010/main" val="15824951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349114F-7405-4641-8369-0A225348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23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F962E4-6DE3-4616-A36D-A720B4FA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976D2"/>
                </a:solidFill>
                <a:latin typeface="Helvetica Neue"/>
                <a:ea typeface="Helvetica Neue"/>
                <a:cs typeface="Helvetica Neue"/>
              </a:rPr>
              <a:t>RGL PANVEL · COMPLETED SAMPLE PRODUCT OUTCOMES</a:t>
            </a:r>
          </a:p>
        </p:txBody>
      </p:sp>
      <p:pic>
        <p:nvPicPr>
          <p:cNvPr id="1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5985838dac4644"/>
          <a:stretch xmlns:a="http://schemas.openxmlformats.org/drawingml/2006/main"/>
        </p:blipFill>
        <p:spPr>
          <a:xfrm xmlns:a="http://schemas.openxmlformats.org/drawingml/2006/main">
            <a:off x="11001375" y="22860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347FAE-EDC5-407F-B908-6F27492E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5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009D7-A32E-417D-BAE1-64AEBE86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rPr>
              <a:t>Source: RGL Panvel QC Laboratory Monitoring data · August 2026 · Status as at 20 Aug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F23512-4413-40A3-AE13-7E726D7F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E3E436-45E8-4865-8271-24BAA244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Pass / fail results for August completed samples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D7202B-B949-469B-8CEC-51512A51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rPr>
              <a:t>Product-quality outcome only — it is not used to assess laboratory delivery performance.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867CAA-77C5-4239-BAAD-DE675F98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25717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4C9B6E-B8D6-4759-BCFA-EBFBC642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2152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79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794E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DDEAE8-9518-4E1B-850C-65A9A26F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152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C2D464-1C82-4600-A142-7E6E3875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rPr>
              <a:t>79.3% of 29 completed samples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556379-01E5-4296-BE47-15610194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38350"/>
            <a:ext cx="25717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EC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DBD7DC-5341-4E7F-85BC-328FAAED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05050"/>
            <a:ext cx="2152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53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C53B3B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501EE7-5FF3-4955-91A7-C41F8959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52750"/>
            <a:ext cx="2152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Fail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9A08FF-72BC-4B3C-AF69-70DA385B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2422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rPr>
              <a:t>20.7% of 29 completed samples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3CD501-B2CB-49C0-8F69-3F4CF999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38350"/>
            <a:ext cx="25717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1E1DEB-50DE-44EE-9FBB-2F251D7C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05050"/>
            <a:ext cx="2152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11 / 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62AC6A-884A-46D4-A90A-7E20E516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52750"/>
            <a:ext cx="2152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Pass within / above SLA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DEE3E5-6E54-41CA-92A8-7A19F355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2422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rPr>
              <a:t>product outcome by delivery timing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7BCB1B-E573-4540-A8F7-F41E0703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38350"/>
            <a:ext cx="25717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E46B5F-425D-4B2E-947A-27469B6A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05050"/>
            <a:ext cx="2152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3 /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26AA57-58EF-419E-8658-1AB1CB90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52750"/>
            <a:ext cx="2152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Fail within / above SLA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305060-E9EE-4528-AAE9-1D1602EE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2422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173"/>
                </a:solidFill>
                <a:latin typeface="Helvetica Neue"/>
                <a:ea typeface="Helvetica Neue"/>
                <a:cs typeface="Helvetica Neue"/>
              </a:rPr>
              <a:t>product outcome by delivery timing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61F911-F307-4792-8873-18539429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6720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Completed samples with a fail outcome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88FB75-76D5-41FC-86E1-61AE98F8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95825"/>
            <a:ext cx="3143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42"/>
          </a:solidFill>
          <a:ln xmlns:a="http://schemas.openxmlformats.org/drawingml/2006/main" w="9525">
            <a:solidFill>
              <a:srgbClr val="071D4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A5CB50-08B5-4C1F-86D7-7C5FBF46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752975"/>
            <a:ext cx="304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Chemical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0020E7-5B94-41C4-BE14-FF522DEE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695825"/>
            <a:ext cx="14287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42"/>
          </a:solidFill>
          <a:ln xmlns:a="http://schemas.openxmlformats.org/drawingml/2006/main" w="9525">
            <a:solidFill>
              <a:srgbClr val="071D4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159A7E-C8CA-42CF-B090-70854110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752975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Notification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D7E06D-433F-4760-905A-C6993C6A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95825"/>
            <a:ext cx="10477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42"/>
          </a:solidFill>
          <a:ln xmlns:a="http://schemas.openxmlformats.org/drawingml/2006/main" w="9525">
            <a:solidFill>
              <a:srgbClr val="071D4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06E414-8363-4BC1-B3B1-4F81BF9A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75297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Reported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5BB8E3-7D40-4357-BAC4-F2EC16D8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95825"/>
            <a:ext cx="10477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42"/>
          </a:solidFill>
          <a:ln xmlns:a="http://schemas.openxmlformats.org/drawingml/2006/main" w="9525">
            <a:solidFill>
              <a:srgbClr val="071D4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9E91CB-DB64-4A0C-BECD-E2EB5DB7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75297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TAT / SLA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4EB11E-7098-45BB-B899-23B316A5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958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42"/>
          </a:solidFill>
          <a:ln xmlns:a="http://schemas.openxmlformats.org/drawingml/2006/main" w="9525">
            <a:solidFill>
              <a:srgbClr val="071D4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16A8F8-3B33-4318-8C3E-8059F852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752975"/>
            <a:ext cx="190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Delivery timing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64EAF3-21FC-4C64-88D4-05519C8B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695825"/>
            <a:ext cx="2743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42"/>
          </a:solidFill>
          <a:ln xmlns:a="http://schemas.openxmlformats.org/drawingml/2006/main" w="9525">
            <a:solidFill>
              <a:srgbClr val="071D4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71147B-9F44-4EE2-9E24-E01DF923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752975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Delay reason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79DF87-6626-4C78-BB00-5A362139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A17593-5E15-4987-93DF-B4BED227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010150"/>
            <a:ext cx="3048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Polylactic Acid Granules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478A07-47C2-439E-B888-0F84B239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9530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F240979-539F-4AC1-BDAE-94BC819D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010150"/>
            <a:ext cx="1333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4075029064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79E15DC-ECF9-4F23-AC90-E2CAC8A9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5300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D153D31-F32E-4CE0-A94B-4C27EAD4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010150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14 Aug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0A3AF07-E63E-41AC-A05D-D284C0AD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5300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9EDF4F5-FF1A-486C-A809-F1698F9D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010150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21d / 9d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8E0A34B-BC2F-4585-944B-0C8B5EF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530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A089A8-72B4-4EB4-BCD6-EC51E12B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5010150"/>
            <a:ext cx="190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Above SLA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E66DB12-E91D-4976-8CC3-871CF3DD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953000"/>
            <a:ext cx="2743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900FF43-42C8-49D1-9903-65D0632A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5010150"/>
            <a:ext cx="2647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Outside lab / agency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38EFAF1-9B90-48B2-B76C-FF147D31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72075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D8A2216-3365-4310-8563-3F09C6A7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229225"/>
            <a:ext cx="3048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Polylactic Acid Powder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B939C7A-636B-4E2A-A31C-8FAC28F9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172075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16C3CC7-AB5B-41B7-A530-7A0360F1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229225"/>
            <a:ext cx="1333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20000035713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F01F60A-5B85-4DA3-ADE6-9C5E4248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172075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24A5597-787C-4C4E-AC23-9DF824E2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229225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18 Aug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3B42441-8B73-49B8-9BD2-0FF8D2CA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172075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A726B97-0370-4FEF-A48D-52C6CBC8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229225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23d / 9d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6DEAB28-59F6-418C-A25B-AEC41EA3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172075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A880FD9-05CA-4E7D-838D-CB42AFF8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5229225"/>
            <a:ext cx="190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Above SLA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440487F-BF50-4C9F-B82B-944FED95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72075"/>
            <a:ext cx="2743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29A1E5C-5754-4A88-80DD-9CC335EA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5229225"/>
            <a:ext cx="2647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Outside lab / agency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5AE8A92-0430-4DE9-9137-CAA4993B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DFA1129-DC50-40F9-8234-CF019F7F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448300"/>
            <a:ext cx="3048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Potassium Lignite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7236493-9951-4B1A-AB20-4B3D35D0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3911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B8290B2-2193-496B-A8E7-272527FF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448300"/>
            <a:ext cx="1333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20000035928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E02FFD2-C874-4B67-9875-83655300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911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1A8F81D-6E98-4609-824C-C3C2BDF7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448300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06 Aug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C38580E-B39C-4AC6-B030-6913C7E9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911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79C08BC-E19C-466F-A4E2-6F9AC5EF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448300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8d / 5d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D2B7F4E-0962-41DF-8885-24FCFCD2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3911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1355F58-499F-4687-9403-5D781756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5448300"/>
            <a:ext cx="190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Above SLA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D92EF1D-6218-4E12-A5E5-C5860820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391150"/>
            <a:ext cx="2743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A750875-54F8-4CCB-86B3-5E66FCAD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5448300"/>
            <a:ext cx="2647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Not recorded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3F6829C-3FA8-468A-A14A-F484AFCF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0225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AC91054-42DE-4C76-A7C8-28431CDE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667375"/>
            <a:ext cx="3048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Sodium Chlorite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907A9CE-0EDE-49A6-9289-DCC37455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610225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76ADFFE-274C-47BB-9F6F-12A8F7CB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67375"/>
            <a:ext cx="1333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20000035967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48DB2E3-5E81-47AB-89E7-C0546303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610225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A860D64-182F-4609-BB0F-B92C7362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667375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06 Aug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A5C5124-6352-455B-B28A-6C0B1B13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610225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D3D8146-849C-413C-A1F9-EEDF4F77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667375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3d / 9d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2E9A67A-1AAA-486C-BEEA-07A5F089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610225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111A3D2-FF52-4341-B269-9351BA68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5667375"/>
            <a:ext cx="190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Within SLA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3D23136-1878-489C-BFA5-57EFD891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610225"/>
            <a:ext cx="2743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9641804-8339-4258-8009-C98FA861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5667375"/>
            <a:ext cx="2647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Not recorded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17C8B1B-07F6-4DBF-A826-3DB3CFA7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F6246E0-121D-4995-817B-6F3E95B9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886450"/>
            <a:ext cx="3048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LTD for MH Asset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59DE3C1-69F9-4B85-B1EE-01597B4A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8293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265E6E1-3296-4442-93FF-3AE34E10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886450"/>
            <a:ext cx="1333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20000036005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CF0071C-4811-44BF-B0E9-F80577C8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82930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A2F68B3-BF3F-4B25-AE72-C8776FE9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886450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12 Aug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A851832-5049-44DF-87EE-727B939E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82930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4552A39-822B-44B6-881B-5C448808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886450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2d / 9d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8C32C30-B7CA-4F13-8899-CB6DCB8D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8293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F3AA995-3D9B-4E09-9520-7C05D8E4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5886450"/>
            <a:ext cx="190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Within SLA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4EDC1FB-F627-475F-9D64-B709BDC3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829300"/>
            <a:ext cx="2743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9FF8FA1-1216-4ACB-93A6-A6041CB4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5886450"/>
            <a:ext cx="2647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Not recorded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3F1DC82-ADE4-46EE-A5A0-7EF4F6E6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48375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C378CF2-3257-4FBE-8DD2-C42B1F1A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105525"/>
            <a:ext cx="3048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LTD for MH Asset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1CECB7C-B669-4703-AF46-69D47AE6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048375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E5281B4-0F52-4EEF-BB6F-803C508D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6105525"/>
            <a:ext cx="1333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20000036006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F8D1912-BE0A-4404-901F-76EBBABB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048375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76B4016-F66B-447F-9111-1DA00E5C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6105525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12 Aug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BFFC27F-AE2B-4D14-B9E2-FDFB04AE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6048375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3B440C7-5F3B-467B-894F-5F1E1AF8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6105525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2d / 9d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DD777CF-26F8-4A4C-89A8-D122900E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048375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258AFD1-68F4-42E0-807F-F7B1BD83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6105525"/>
            <a:ext cx="190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Within SLA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3EBBCE3-3C62-4803-B65A-08F1D469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6048375"/>
            <a:ext cx="2743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68D9155-79F9-44C8-BF2C-3EA53CC5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6105525"/>
            <a:ext cx="2647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71D42"/>
                </a:solidFill>
                <a:latin typeface="Helvetica Neue"/>
                <a:ea typeface="Helvetica Neue"/>
                <a:cs typeface="Helvetica Neue"/>
              </a:rPr>
              <a:t>Not recorded</a:t>
            </a:r>
          </a:p>
        </p:txBody>
      </p:sp>
    </p:spTree>
    <p:extLst>
      <p:ext uri="{BB962C8B-B14F-4D97-AF65-F5344CB8AC3E}">
        <p14:creationId xmlns:p14="http://schemas.microsoft.com/office/powerpoint/2010/main" val="4290656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2026-08-20T15:45:12.1930000Z</dcterms:created>
  <dcterms:modified xsi:type="dcterms:W3CDTF">2026-08-20T15:45:12.1930000Z</dcterms:modified>
</coreProperties>
</file>